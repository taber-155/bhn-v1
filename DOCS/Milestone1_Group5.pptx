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Inter" panose="020B0604020202020204" charset="0"/>
      <p:regular r:id="rId16"/>
    </p:embeddedFont>
    <p:embeddedFont>
      <p:font typeface="Lato" panose="020F0502020204030203" pitchFamily="34" charset="0"/>
      <p:regular r:id="rId17"/>
      <p:bold r:id="rId18"/>
    </p:embeddedFont>
    <p:embeddedFont>
      <p:font typeface="Petrona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22" autoAdjust="0"/>
  </p:normalViewPr>
  <p:slideViewPr>
    <p:cSldViewPr>
      <p:cViewPr>
        <p:scale>
          <a:sx n="33" d="100"/>
          <a:sy n="33" d="100"/>
        </p:scale>
        <p:origin x="1316" y="3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689E0A-143C-AC98-F136-A07E23F81B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0E811C-3F18-F4C6-10C9-25CC2ED5C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49376-212C-44BF-8E51-5D088933BDA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F678C1-70BA-1095-88C7-B6A6E46A7A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E19EB-09A6-46BD-43EF-822B6ECBBE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794DF-D6EB-4C21-B518-2026C2B3F2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42808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cs-CZ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A3BF-8A95-D6EC-F8DF-02C4ED10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FEE730-F16C-F1A0-B025-7DC7432BCF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1D260-2C0E-9DB8-0A91-BDC192041AA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9A919EF-3411-0C51-DC92-3188E49E2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8F4B028-4D67-4723-36D9-99A554EA8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9E9CF-C6F2-24EF-3621-7934B3927A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4ACE6-1A64-5C91-029C-A3305CE26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87324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anshaweonline.ca/d2l/home/1954945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7850237" y="3726061"/>
            <a:ext cx="9445526" cy="190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BHN Project - Birth Healthcare Number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50237" y="5973813"/>
            <a:ext cx="944552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36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Secure Digital Healthcare Platform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0A3CCF-C556-AD66-9E90-1D2D618AE597}"/>
              </a:ext>
            </a:extLst>
          </p:cNvPr>
          <p:cNvSpPr txBox="1"/>
          <p:nvPr/>
        </p:nvSpPr>
        <p:spPr>
          <a:xfrm>
            <a:off x="7850237" y="419100"/>
            <a:ext cx="990436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CAPSTONE PROJECT</a:t>
            </a:r>
          </a:p>
          <a:p>
            <a:pPr algn="ctr"/>
            <a:r>
              <a:rPr lang="en-IN" sz="4000" b="1" i="0" strike="noStrike" dirty="0">
                <a:effectLst/>
                <a:latin typeface="Lato" panose="020F0502020204030203" pitchFamily="34" charset="0"/>
                <a:hlinkClick r:id="rId5" tooltip="MGMT-6134-(31)-25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MGMT-6134-(31)-25S</a:t>
            </a:r>
            <a:endParaRPr lang="en-IN" sz="4000" b="1" i="0" strike="noStrike" dirty="0">
              <a:effectLst/>
              <a:latin typeface="Lato" panose="020F0502020204030203" pitchFamily="34" charset="0"/>
            </a:endParaRPr>
          </a:p>
          <a:p>
            <a:pPr algn="ctr"/>
            <a:r>
              <a:rPr lang="en-IN" sz="4000" b="1" dirty="0">
                <a:latin typeface="Lato" panose="020F0502020204030203" pitchFamily="34" charset="0"/>
              </a:rPr>
              <a:t>MILESTONE 1</a:t>
            </a:r>
            <a:endParaRPr lang="en-IN" sz="4000" b="1" dirty="0"/>
          </a:p>
          <a:p>
            <a:pPr algn="ctr"/>
            <a:endParaRPr lang="en-IN" sz="40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5F05B4-D272-6C0F-DF64-0408E276FCF1}"/>
              </a:ext>
            </a:extLst>
          </p:cNvPr>
          <p:cNvSpPr/>
          <p:nvPr/>
        </p:nvSpPr>
        <p:spPr>
          <a:xfrm>
            <a:off x="17068800" y="9410700"/>
            <a:ext cx="838200" cy="762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sz="2000" b="1" dirty="0"/>
          </a:p>
        </p:txBody>
      </p:sp>
      <p:sp>
        <p:nvSpPr>
          <p:cNvPr id="5" name="TextBox 5"/>
          <p:cNvSpPr txBox="1"/>
          <p:nvPr/>
        </p:nvSpPr>
        <p:spPr>
          <a:xfrm>
            <a:off x="6012179" y="2131181"/>
            <a:ext cx="9591972" cy="945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6000" b="1" dirty="0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Meet The Team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76438" y="4218275"/>
            <a:ext cx="2835741" cy="47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b="1" dirty="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Aniket Mishra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24671" y="5626894"/>
            <a:ext cx="5030301" cy="430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Database 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76439" y="4947032"/>
            <a:ext cx="3471981" cy="464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b="1" dirty="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Abu Taber Shareef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24671" y="4889882"/>
            <a:ext cx="4481529" cy="418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Security and Solution Architect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76438" y="5661124"/>
            <a:ext cx="3239392" cy="464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b="1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Krishang Mankad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56779" y="6468486"/>
            <a:ext cx="2481024" cy="47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b="1" dirty="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Aman Patel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02214" y="4177233"/>
            <a:ext cx="4283571" cy="430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Application Manager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20390" y="7240252"/>
            <a:ext cx="8961120" cy="47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b="1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Geetanjali Sharma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24747" y="6392792"/>
            <a:ext cx="8961120" cy="449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400" b="1" dirty="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QA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24747" y="7105036"/>
            <a:ext cx="8961120" cy="449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400" b="1" dirty="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Project Manager.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36CEEBA-FC71-F4B9-BA57-948861F934A8}"/>
              </a:ext>
            </a:extLst>
          </p:cNvPr>
          <p:cNvSpPr/>
          <p:nvPr/>
        </p:nvSpPr>
        <p:spPr>
          <a:xfrm>
            <a:off x="17068800" y="9410700"/>
            <a:ext cx="838200" cy="762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D1CE4-82D8-658C-FD88-8FFAD8DFA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>
            <a:extLst>
              <a:ext uri="{FF2B5EF4-FFF2-40B4-BE49-F238E27FC236}">
                <a16:creationId xmlns:a16="http://schemas.microsoft.com/office/drawing/2014/main" id="{D977550A-CDEF-0400-764B-BE74DE21A8F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C6FB670-9FFD-AEE6-8853-F495688F472A}"/>
              </a:ext>
            </a:extLst>
          </p:cNvPr>
          <p:cNvSpPr txBox="1"/>
          <p:nvPr/>
        </p:nvSpPr>
        <p:spPr>
          <a:xfrm>
            <a:off x="1981200" y="414489"/>
            <a:ext cx="9591972" cy="916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dirty="0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AGENDA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A04D09-198D-78CC-6366-25C6810DB820}"/>
              </a:ext>
            </a:extLst>
          </p:cNvPr>
          <p:cNvSpPr txBox="1"/>
          <p:nvPr/>
        </p:nvSpPr>
        <p:spPr>
          <a:xfrm>
            <a:off x="1981200" y="1866900"/>
            <a:ext cx="9591972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PROBLEM AND ITS SOLUTION</a:t>
            </a:r>
          </a:p>
          <a:p>
            <a:endParaRPr lang="en-I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SYSTEM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FEATURES AND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SWOT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48B994-DF0A-0325-AE3D-52F6DDD2B821}"/>
              </a:ext>
            </a:extLst>
          </p:cNvPr>
          <p:cNvSpPr/>
          <p:nvPr/>
        </p:nvSpPr>
        <p:spPr>
          <a:xfrm>
            <a:off x="17068800" y="9410700"/>
            <a:ext cx="838200" cy="762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48733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sz="2000"/>
          </a:p>
        </p:txBody>
      </p: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 sz="2000"/>
          </a:p>
        </p:txBody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 sz="2000"/>
          </a:p>
        </p:txBody>
      </p:sp>
      <p:sp>
        <p:nvSpPr>
          <p:cNvPr id="7" name="TextBox 7"/>
          <p:cNvSpPr txBox="1"/>
          <p:nvPr/>
        </p:nvSpPr>
        <p:spPr>
          <a:xfrm>
            <a:off x="992238" y="2721620"/>
            <a:ext cx="7442746" cy="92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6000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Introduction to BHN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75" y="4120009"/>
            <a:ext cx="647402" cy="647402"/>
            <a:chOff x="0" y="0"/>
            <a:chExt cx="863203" cy="863203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 sz="200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 sz="2000"/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1087934" y="4164657"/>
            <a:ext cx="446485" cy="558105"/>
          </a:xfrm>
          <a:custGeom>
            <a:avLst/>
            <a:gdLst/>
            <a:ahLst/>
            <a:cxnLst/>
            <a:rect l="l" t="t" r="r" b="b"/>
            <a:pathLst>
              <a:path w="446485" h="558105">
                <a:moveTo>
                  <a:pt x="0" y="0"/>
                </a:moveTo>
                <a:lnTo>
                  <a:pt x="446485" y="0"/>
                </a:lnTo>
                <a:lnTo>
                  <a:pt x="446485" y="558105"/>
                </a:lnTo>
                <a:lnTo>
                  <a:pt x="0" y="558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12" b="-212"/>
            </a:stretch>
          </a:blipFill>
        </p:spPr>
        <p:txBody>
          <a:bodyPr/>
          <a:lstStyle/>
          <a:p>
            <a:endParaRPr lang="en-CA" sz="2000"/>
          </a:p>
        </p:txBody>
      </p:sp>
      <p:sp>
        <p:nvSpPr>
          <p:cNvPr id="12" name="TextBox 12"/>
          <p:cNvSpPr txBox="1"/>
          <p:nvPr/>
        </p:nvSpPr>
        <p:spPr>
          <a:xfrm>
            <a:off x="1913632" y="4193530"/>
            <a:ext cx="3624263" cy="47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dirty="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Secure Platform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3632" y="4771579"/>
            <a:ext cx="3624263" cy="8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Digital health on a domain.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887491" y="4120009"/>
            <a:ext cx="647403" cy="647402"/>
            <a:chOff x="0" y="0"/>
            <a:chExt cx="863203" cy="863203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 sz="2000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 sz="2000"/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5987951" y="4164657"/>
            <a:ext cx="446485" cy="558105"/>
          </a:xfrm>
          <a:custGeom>
            <a:avLst/>
            <a:gdLst/>
            <a:ahLst/>
            <a:cxnLst/>
            <a:rect l="l" t="t" r="r" b="b"/>
            <a:pathLst>
              <a:path w="446485" h="558105">
                <a:moveTo>
                  <a:pt x="0" y="0"/>
                </a:moveTo>
                <a:lnTo>
                  <a:pt x="446485" y="0"/>
                </a:lnTo>
                <a:lnTo>
                  <a:pt x="446485" y="558105"/>
                </a:lnTo>
                <a:lnTo>
                  <a:pt x="0" y="558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12" b="-212"/>
            </a:stretch>
          </a:blipFill>
        </p:spPr>
        <p:txBody>
          <a:bodyPr/>
          <a:lstStyle/>
          <a:p>
            <a:endParaRPr lang="en-CA" sz="2000"/>
          </a:p>
        </p:txBody>
      </p:sp>
      <p:sp>
        <p:nvSpPr>
          <p:cNvPr id="18" name="TextBox 18"/>
          <p:cNvSpPr txBox="1"/>
          <p:nvPr/>
        </p:nvSpPr>
        <p:spPr>
          <a:xfrm>
            <a:off x="6813649" y="4193530"/>
            <a:ext cx="3624262" cy="47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Unique ID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13649" y="4771579"/>
            <a:ext cx="3624262" cy="8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BHN for every Canadian citizen.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87475" y="6326832"/>
            <a:ext cx="647402" cy="647402"/>
            <a:chOff x="0" y="0"/>
            <a:chExt cx="863203" cy="863203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 sz="2000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 sz="2000"/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1087934" y="6371481"/>
            <a:ext cx="446485" cy="558105"/>
          </a:xfrm>
          <a:custGeom>
            <a:avLst/>
            <a:gdLst/>
            <a:ahLst/>
            <a:cxnLst/>
            <a:rect l="l" t="t" r="r" b="b"/>
            <a:pathLst>
              <a:path w="446485" h="558105">
                <a:moveTo>
                  <a:pt x="0" y="0"/>
                </a:moveTo>
                <a:lnTo>
                  <a:pt x="446485" y="0"/>
                </a:lnTo>
                <a:lnTo>
                  <a:pt x="446485" y="558105"/>
                </a:lnTo>
                <a:lnTo>
                  <a:pt x="0" y="558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212" b="-212"/>
            </a:stretch>
          </a:blipFill>
        </p:spPr>
        <p:txBody>
          <a:bodyPr/>
          <a:lstStyle/>
          <a:p>
            <a:endParaRPr lang="en-CA" sz="2000"/>
          </a:p>
        </p:txBody>
      </p:sp>
      <p:sp>
        <p:nvSpPr>
          <p:cNvPr id="24" name="TextBox 24"/>
          <p:cNvSpPr txBox="1"/>
          <p:nvPr/>
        </p:nvSpPr>
        <p:spPr>
          <a:xfrm>
            <a:off x="1913632" y="6400354"/>
            <a:ext cx="3721299" cy="47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Cloud Portfolio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13632" y="6978402"/>
            <a:ext cx="8524131" cy="43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Encrypted records: prescriptions, labs, diagnoses.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34E1E4F-8C07-D30A-6E8B-76C31FF48C4F}"/>
              </a:ext>
            </a:extLst>
          </p:cNvPr>
          <p:cNvSpPr/>
          <p:nvPr/>
        </p:nvSpPr>
        <p:spPr>
          <a:xfrm>
            <a:off x="17068800" y="9410700"/>
            <a:ext cx="838200" cy="762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7850237" y="1015901"/>
            <a:ext cx="7442746" cy="9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The Problem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7850237" y="2419052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5" b="-55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TextBox 8"/>
          <p:cNvSpPr txBox="1"/>
          <p:nvPr/>
        </p:nvSpPr>
        <p:spPr>
          <a:xfrm>
            <a:off x="9693028" y="2673995"/>
            <a:ext cx="3721299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Fragmented Records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93028" y="3252044"/>
            <a:ext cx="760273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Across institutions.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7850237" y="4120157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5" b="-55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TextBox 11"/>
          <p:cNvSpPr txBox="1"/>
          <p:nvPr/>
        </p:nvSpPr>
        <p:spPr>
          <a:xfrm>
            <a:off x="9693028" y="4375100"/>
            <a:ext cx="3721299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Emergency Delays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93028" y="4953149"/>
            <a:ext cx="760273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Inaccessible patient history.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7850237" y="5821264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5" b="-55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4" name="TextBox 14"/>
          <p:cNvSpPr txBox="1"/>
          <p:nvPr/>
        </p:nvSpPr>
        <p:spPr>
          <a:xfrm>
            <a:off x="9693028" y="6076206"/>
            <a:ext cx="3721299" cy="49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Duplication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93028" y="6654254"/>
            <a:ext cx="760273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Repeated tests, paperwork.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7850237" y="7522369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55" b="-55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7" name="TextBox 17"/>
          <p:cNvSpPr txBox="1"/>
          <p:nvPr/>
        </p:nvSpPr>
        <p:spPr>
          <a:xfrm>
            <a:off x="9693028" y="7777311"/>
            <a:ext cx="3721299" cy="49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Privacy Concerns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93028" y="8355360"/>
            <a:ext cx="760273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Manual storage risks.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50D839-2C57-1F52-6A1C-1A6EB4C4B80B}"/>
              </a:ext>
            </a:extLst>
          </p:cNvPr>
          <p:cNvSpPr/>
          <p:nvPr/>
        </p:nvSpPr>
        <p:spPr>
          <a:xfrm>
            <a:off x="17068800" y="9410700"/>
            <a:ext cx="838200" cy="762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 descr="preencoded.png"/>
          <p:cNvSpPr/>
          <p:nvPr/>
        </p:nvSpPr>
        <p:spPr>
          <a:xfrm>
            <a:off x="11125200" y="0"/>
            <a:ext cx="71628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92" t="-9312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TextBox 7"/>
          <p:cNvSpPr txBox="1"/>
          <p:nvPr/>
        </p:nvSpPr>
        <p:spPr>
          <a:xfrm>
            <a:off x="992238" y="1673424"/>
            <a:ext cx="7442746" cy="92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6000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Our Solution - BHN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75" y="3071812"/>
            <a:ext cx="222051" cy="1098351"/>
            <a:chOff x="0" y="0"/>
            <a:chExt cx="296068" cy="1464468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283337" cy="1451864"/>
            </a:xfrm>
            <a:custGeom>
              <a:avLst/>
              <a:gdLst/>
              <a:ahLst/>
              <a:cxnLst/>
              <a:rect l="l" t="t" r="r" b="b"/>
              <a:pathLst>
                <a:path w="283337" h="1451864">
                  <a:moveTo>
                    <a:pt x="0" y="146812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812"/>
                  </a:cubicBezTo>
                  <a:lnTo>
                    <a:pt x="283337" y="1305052"/>
                  </a:lnTo>
                  <a:cubicBezTo>
                    <a:pt x="283337" y="1386078"/>
                    <a:pt x="219964" y="1451864"/>
                    <a:pt x="141605" y="1451864"/>
                  </a:cubicBezTo>
                  <a:cubicBezTo>
                    <a:pt x="63246" y="1451864"/>
                    <a:pt x="0" y="1386078"/>
                    <a:pt x="0" y="1305052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296164" cy="1464564"/>
            </a:xfrm>
            <a:custGeom>
              <a:avLst/>
              <a:gdLst/>
              <a:ahLst/>
              <a:cxnLst/>
              <a:rect l="l" t="t" r="r" b="b"/>
              <a:pathLst>
                <a:path w="296164" h="1464564">
                  <a:moveTo>
                    <a:pt x="0" y="153162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162"/>
                  </a:cubicBezTo>
                  <a:lnTo>
                    <a:pt x="296164" y="1311402"/>
                  </a:lnTo>
                  <a:lnTo>
                    <a:pt x="289814" y="1311402"/>
                  </a:lnTo>
                  <a:lnTo>
                    <a:pt x="296164" y="1311402"/>
                  </a:lnTo>
                  <a:cubicBezTo>
                    <a:pt x="296164" y="1395730"/>
                    <a:pt x="230124" y="1464564"/>
                    <a:pt x="148082" y="1464564"/>
                  </a:cubicBezTo>
                  <a:lnTo>
                    <a:pt x="148082" y="1458214"/>
                  </a:lnTo>
                  <a:lnTo>
                    <a:pt x="148082" y="1451864"/>
                  </a:lnTo>
                  <a:lnTo>
                    <a:pt x="148082" y="1458214"/>
                  </a:lnTo>
                  <a:lnTo>
                    <a:pt x="148082" y="1464564"/>
                  </a:lnTo>
                  <a:cubicBezTo>
                    <a:pt x="66040" y="1464437"/>
                    <a:pt x="0" y="1395730"/>
                    <a:pt x="0" y="1311402"/>
                  </a:cubicBezTo>
                  <a:lnTo>
                    <a:pt x="0" y="153162"/>
                  </a:lnTo>
                  <a:lnTo>
                    <a:pt x="6350" y="153162"/>
                  </a:lnTo>
                  <a:lnTo>
                    <a:pt x="0" y="153162"/>
                  </a:lnTo>
                  <a:moveTo>
                    <a:pt x="12700" y="153162"/>
                  </a:moveTo>
                  <a:lnTo>
                    <a:pt x="12700" y="1311402"/>
                  </a:lnTo>
                  <a:lnTo>
                    <a:pt x="6350" y="1311402"/>
                  </a:lnTo>
                  <a:lnTo>
                    <a:pt x="12700" y="1311402"/>
                  </a:lnTo>
                  <a:cubicBezTo>
                    <a:pt x="12700" y="1389126"/>
                    <a:pt x="73533" y="1451864"/>
                    <a:pt x="148082" y="1451864"/>
                  </a:cubicBezTo>
                  <a:cubicBezTo>
                    <a:pt x="151638" y="1451864"/>
                    <a:pt x="154432" y="1454658"/>
                    <a:pt x="154432" y="1458214"/>
                  </a:cubicBezTo>
                  <a:cubicBezTo>
                    <a:pt x="154432" y="1461770"/>
                    <a:pt x="151638" y="1464564"/>
                    <a:pt x="148082" y="1464564"/>
                  </a:cubicBezTo>
                  <a:cubicBezTo>
                    <a:pt x="144526" y="1464564"/>
                    <a:pt x="141732" y="1461770"/>
                    <a:pt x="141732" y="1458214"/>
                  </a:cubicBezTo>
                  <a:cubicBezTo>
                    <a:pt x="141732" y="1454658"/>
                    <a:pt x="144526" y="1451864"/>
                    <a:pt x="148082" y="1451864"/>
                  </a:cubicBezTo>
                  <a:cubicBezTo>
                    <a:pt x="222631" y="1451864"/>
                    <a:pt x="283464" y="1389253"/>
                    <a:pt x="283464" y="1311402"/>
                  </a:cubicBezTo>
                  <a:lnTo>
                    <a:pt x="283464" y="153162"/>
                  </a:lnTo>
                  <a:lnTo>
                    <a:pt x="289814" y="153162"/>
                  </a:lnTo>
                  <a:lnTo>
                    <a:pt x="283464" y="153162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162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29966" y="3048000"/>
            <a:ext cx="3721299" cy="46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Unified Digital ID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29966" y="3626049"/>
            <a:ext cx="8807798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Health data from birth to death.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12676" y="4444156"/>
            <a:ext cx="222051" cy="1098351"/>
            <a:chOff x="0" y="0"/>
            <a:chExt cx="296068" cy="1464468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283337" cy="1451864"/>
            </a:xfrm>
            <a:custGeom>
              <a:avLst/>
              <a:gdLst/>
              <a:ahLst/>
              <a:cxnLst/>
              <a:rect l="l" t="t" r="r" b="b"/>
              <a:pathLst>
                <a:path w="283337" h="1451864">
                  <a:moveTo>
                    <a:pt x="0" y="146812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812"/>
                  </a:cubicBezTo>
                  <a:lnTo>
                    <a:pt x="283337" y="1305052"/>
                  </a:lnTo>
                  <a:cubicBezTo>
                    <a:pt x="283337" y="1386078"/>
                    <a:pt x="219964" y="1451864"/>
                    <a:pt x="141605" y="1451864"/>
                  </a:cubicBezTo>
                  <a:cubicBezTo>
                    <a:pt x="63246" y="1451864"/>
                    <a:pt x="0" y="1386078"/>
                    <a:pt x="0" y="1305052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296164" cy="1464564"/>
            </a:xfrm>
            <a:custGeom>
              <a:avLst/>
              <a:gdLst/>
              <a:ahLst/>
              <a:cxnLst/>
              <a:rect l="l" t="t" r="r" b="b"/>
              <a:pathLst>
                <a:path w="296164" h="1464564">
                  <a:moveTo>
                    <a:pt x="0" y="153162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162"/>
                  </a:cubicBezTo>
                  <a:lnTo>
                    <a:pt x="296164" y="1311402"/>
                  </a:lnTo>
                  <a:lnTo>
                    <a:pt x="289814" y="1311402"/>
                  </a:lnTo>
                  <a:lnTo>
                    <a:pt x="296164" y="1311402"/>
                  </a:lnTo>
                  <a:cubicBezTo>
                    <a:pt x="296164" y="1395730"/>
                    <a:pt x="230124" y="1464564"/>
                    <a:pt x="148082" y="1464564"/>
                  </a:cubicBezTo>
                  <a:lnTo>
                    <a:pt x="148082" y="1458214"/>
                  </a:lnTo>
                  <a:lnTo>
                    <a:pt x="148082" y="1451864"/>
                  </a:lnTo>
                  <a:lnTo>
                    <a:pt x="148082" y="1458214"/>
                  </a:lnTo>
                  <a:lnTo>
                    <a:pt x="148082" y="1464564"/>
                  </a:lnTo>
                  <a:cubicBezTo>
                    <a:pt x="66040" y="1464437"/>
                    <a:pt x="0" y="1395730"/>
                    <a:pt x="0" y="1311402"/>
                  </a:cubicBezTo>
                  <a:lnTo>
                    <a:pt x="0" y="153162"/>
                  </a:lnTo>
                  <a:lnTo>
                    <a:pt x="6350" y="153162"/>
                  </a:lnTo>
                  <a:lnTo>
                    <a:pt x="0" y="153162"/>
                  </a:lnTo>
                  <a:moveTo>
                    <a:pt x="12700" y="153162"/>
                  </a:moveTo>
                  <a:lnTo>
                    <a:pt x="12700" y="1311402"/>
                  </a:lnTo>
                  <a:lnTo>
                    <a:pt x="6350" y="1311402"/>
                  </a:lnTo>
                  <a:lnTo>
                    <a:pt x="12700" y="1311402"/>
                  </a:lnTo>
                  <a:cubicBezTo>
                    <a:pt x="12700" y="1389126"/>
                    <a:pt x="73533" y="1451864"/>
                    <a:pt x="148082" y="1451864"/>
                  </a:cubicBezTo>
                  <a:cubicBezTo>
                    <a:pt x="151638" y="1451864"/>
                    <a:pt x="154432" y="1454658"/>
                    <a:pt x="154432" y="1458214"/>
                  </a:cubicBezTo>
                  <a:cubicBezTo>
                    <a:pt x="154432" y="1461770"/>
                    <a:pt x="151638" y="1464564"/>
                    <a:pt x="148082" y="1464564"/>
                  </a:cubicBezTo>
                  <a:cubicBezTo>
                    <a:pt x="144526" y="1464564"/>
                    <a:pt x="141732" y="1461770"/>
                    <a:pt x="141732" y="1458214"/>
                  </a:cubicBezTo>
                  <a:cubicBezTo>
                    <a:pt x="141732" y="1454658"/>
                    <a:pt x="144526" y="1451864"/>
                    <a:pt x="148082" y="1451864"/>
                  </a:cubicBezTo>
                  <a:cubicBezTo>
                    <a:pt x="222631" y="1451864"/>
                    <a:pt x="283464" y="1389253"/>
                    <a:pt x="283464" y="1311402"/>
                  </a:cubicBezTo>
                  <a:lnTo>
                    <a:pt x="283464" y="153162"/>
                  </a:lnTo>
                  <a:lnTo>
                    <a:pt x="289814" y="153162"/>
                  </a:lnTo>
                  <a:lnTo>
                    <a:pt x="283464" y="153162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162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55168" y="4420344"/>
            <a:ext cx="3721299" cy="46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Authorized Access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55168" y="4998393"/>
            <a:ext cx="8382595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Only via AWS Cognito.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838028" y="5816501"/>
            <a:ext cx="222051" cy="1098351"/>
            <a:chOff x="0" y="0"/>
            <a:chExt cx="296068" cy="1464468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283337" cy="1451864"/>
            </a:xfrm>
            <a:custGeom>
              <a:avLst/>
              <a:gdLst/>
              <a:ahLst/>
              <a:cxnLst/>
              <a:rect l="l" t="t" r="r" b="b"/>
              <a:pathLst>
                <a:path w="283337" h="1451864">
                  <a:moveTo>
                    <a:pt x="0" y="146812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812"/>
                  </a:cubicBezTo>
                  <a:lnTo>
                    <a:pt x="283337" y="1305052"/>
                  </a:lnTo>
                  <a:cubicBezTo>
                    <a:pt x="283337" y="1386078"/>
                    <a:pt x="219964" y="1451864"/>
                    <a:pt x="141605" y="1451864"/>
                  </a:cubicBezTo>
                  <a:cubicBezTo>
                    <a:pt x="63246" y="1451864"/>
                    <a:pt x="0" y="1386078"/>
                    <a:pt x="0" y="1305052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96164" cy="1464564"/>
            </a:xfrm>
            <a:custGeom>
              <a:avLst/>
              <a:gdLst/>
              <a:ahLst/>
              <a:cxnLst/>
              <a:rect l="l" t="t" r="r" b="b"/>
              <a:pathLst>
                <a:path w="296164" h="1464564">
                  <a:moveTo>
                    <a:pt x="0" y="153162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162"/>
                  </a:cubicBezTo>
                  <a:lnTo>
                    <a:pt x="296164" y="1311402"/>
                  </a:lnTo>
                  <a:lnTo>
                    <a:pt x="289814" y="1311402"/>
                  </a:lnTo>
                  <a:lnTo>
                    <a:pt x="296164" y="1311402"/>
                  </a:lnTo>
                  <a:cubicBezTo>
                    <a:pt x="296164" y="1395730"/>
                    <a:pt x="230124" y="1464564"/>
                    <a:pt x="148082" y="1464564"/>
                  </a:cubicBezTo>
                  <a:lnTo>
                    <a:pt x="148082" y="1458214"/>
                  </a:lnTo>
                  <a:lnTo>
                    <a:pt x="148082" y="1451864"/>
                  </a:lnTo>
                  <a:lnTo>
                    <a:pt x="148082" y="1458214"/>
                  </a:lnTo>
                  <a:lnTo>
                    <a:pt x="148082" y="1464564"/>
                  </a:lnTo>
                  <a:cubicBezTo>
                    <a:pt x="66040" y="1464437"/>
                    <a:pt x="0" y="1395730"/>
                    <a:pt x="0" y="1311402"/>
                  </a:cubicBezTo>
                  <a:lnTo>
                    <a:pt x="0" y="153162"/>
                  </a:lnTo>
                  <a:lnTo>
                    <a:pt x="6350" y="153162"/>
                  </a:lnTo>
                  <a:lnTo>
                    <a:pt x="0" y="153162"/>
                  </a:lnTo>
                  <a:moveTo>
                    <a:pt x="12700" y="153162"/>
                  </a:moveTo>
                  <a:lnTo>
                    <a:pt x="12700" y="1311402"/>
                  </a:lnTo>
                  <a:lnTo>
                    <a:pt x="6350" y="1311402"/>
                  </a:lnTo>
                  <a:lnTo>
                    <a:pt x="12700" y="1311402"/>
                  </a:lnTo>
                  <a:cubicBezTo>
                    <a:pt x="12700" y="1389126"/>
                    <a:pt x="73533" y="1451864"/>
                    <a:pt x="148082" y="1451864"/>
                  </a:cubicBezTo>
                  <a:cubicBezTo>
                    <a:pt x="151638" y="1451864"/>
                    <a:pt x="154432" y="1454658"/>
                    <a:pt x="154432" y="1458214"/>
                  </a:cubicBezTo>
                  <a:cubicBezTo>
                    <a:pt x="154432" y="1461770"/>
                    <a:pt x="151638" y="1464564"/>
                    <a:pt x="148082" y="1464564"/>
                  </a:cubicBezTo>
                  <a:cubicBezTo>
                    <a:pt x="144526" y="1464564"/>
                    <a:pt x="141732" y="1461770"/>
                    <a:pt x="141732" y="1458214"/>
                  </a:cubicBezTo>
                  <a:cubicBezTo>
                    <a:pt x="141732" y="1454658"/>
                    <a:pt x="144526" y="1451864"/>
                    <a:pt x="148082" y="1451864"/>
                  </a:cubicBezTo>
                  <a:cubicBezTo>
                    <a:pt x="222631" y="1451864"/>
                    <a:pt x="283464" y="1389253"/>
                    <a:pt x="283464" y="1311402"/>
                  </a:cubicBezTo>
                  <a:lnTo>
                    <a:pt x="283464" y="153162"/>
                  </a:lnTo>
                  <a:lnTo>
                    <a:pt x="289814" y="153162"/>
                  </a:lnTo>
                  <a:lnTo>
                    <a:pt x="283464" y="153162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162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480519" y="5792689"/>
            <a:ext cx="3721299" cy="46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Real-time Access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80519" y="6370736"/>
            <a:ext cx="7957245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Critical for emergencies.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263379" y="7188845"/>
            <a:ext cx="222051" cy="1098351"/>
            <a:chOff x="0" y="0"/>
            <a:chExt cx="296068" cy="1464468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283337" cy="1451864"/>
            </a:xfrm>
            <a:custGeom>
              <a:avLst/>
              <a:gdLst/>
              <a:ahLst/>
              <a:cxnLst/>
              <a:rect l="l" t="t" r="r" b="b"/>
              <a:pathLst>
                <a:path w="283337" h="1451864">
                  <a:moveTo>
                    <a:pt x="0" y="146812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812"/>
                  </a:cubicBezTo>
                  <a:lnTo>
                    <a:pt x="283337" y="1305052"/>
                  </a:lnTo>
                  <a:cubicBezTo>
                    <a:pt x="283337" y="1386078"/>
                    <a:pt x="219964" y="1451864"/>
                    <a:pt x="141605" y="1451864"/>
                  </a:cubicBezTo>
                  <a:cubicBezTo>
                    <a:pt x="63246" y="1451864"/>
                    <a:pt x="0" y="1386078"/>
                    <a:pt x="0" y="1305052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296164" cy="1464564"/>
            </a:xfrm>
            <a:custGeom>
              <a:avLst/>
              <a:gdLst/>
              <a:ahLst/>
              <a:cxnLst/>
              <a:rect l="l" t="t" r="r" b="b"/>
              <a:pathLst>
                <a:path w="296164" h="1464564">
                  <a:moveTo>
                    <a:pt x="0" y="153162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162"/>
                  </a:cubicBezTo>
                  <a:lnTo>
                    <a:pt x="296164" y="1311402"/>
                  </a:lnTo>
                  <a:lnTo>
                    <a:pt x="289814" y="1311402"/>
                  </a:lnTo>
                  <a:lnTo>
                    <a:pt x="296164" y="1311402"/>
                  </a:lnTo>
                  <a:cubicBezTo>
                    <a:pt x="296164" y="1395730"/>
                    <a:pt x="230124" y="1464564"/>
                    <a:pt x="148082" y="1464564"/>
                  </a:cubicBezTo>
                  <a:lnTo>
                    <a:pt x="148082" y="1458214"/>
                  </a:lnTo>
                  <a:lnTo>
                    <a:pt x="148082" y="1451864"/>
                  </a:lnTo>
                  <a:lnTo>
                    <a:pt x="148082" y="1458214"/>
                  </a:lnTo>
                  <a:lnTo>
                    <a:pt x="148082" y="1464564"/>
                  </a:lnTo>
                  <a:cubicBezTo>
                    <a:pt x="66040" y="1464437"/>
                    <a:pt x="0" y="1395730"/>
                    <a:pt x="0" y="1311402"/>
                  </a:cubicBezTo>
                  <a:lnTo>
                    <a:pt x="0" y="153162"/>
                  </a:lnTo>
                  <a:lnTo>
                    <a:pt x="6350" y="153162"/>
                  </a:lnTo>
                  <a:lnTo>
                    <a:pt x="0" y="153162"/>
                  </a:lnTo>
                  <a:moveTo>
                    <a:pt x="12700" y="153162"/>
                  </a:moveTo>
                  <a:lnTo>
                    <a:pt x="12700" y="1311402"/>
                  </a:lnTo>
                  <a:lnTo>
                    <a:pt x="6350" y="1311402"/>
                  </a:lnTo>
                  <a:lnTo>
                    <a:pt x="12700" y="1311402"/>
                  </a:lnTo>
                  <a:cubicBezTo>
                    <a:pt x="12700" y="1389126"/>
                    <a:pt x="73533" y="1451864"/>
                    <a:pt x="148082" y="1451864"/>
                  </a:cubicBezTo>
                  <a:cubicBezTo>
                    <a:pt x="151638" y="1451864"/>
                    <a:pt x="154432" y="1454658"/>
                    <a:pt x="154432" y="1458214"/>
                  </a:cubicBezTo>
                  <a:cubicBezTo>
                    <a:pt x="154432" y="1461770"/>
                    <a:pt x="151638" y="1464564"/>
                    <a:pt x="148082" y="1464564"/>
                  </a:cubicBezTo>
                  <a:cubicBezTo>
                    <a:pt x="144526" y="1464564"/>
                    <a:pt x="141732" y="1461770"/>
                    <a:pt x="141732" y="1458214"/>
                  </a:cubicBezTo>
                  <a:cubicBezTo>
                    <a:pt x="141732" y="1454658"/>
                    <a:pt x="144526" y="1451864"/>
                    <a:pt x="148082" y="1451864"/>
                  </a:cubicBezTo>
                  <a:cubicBezTo>
                    <a:pt x="222631" y="1451864"/>
                    <a:pt x="283464" y="1389253"/>
                    <a:pt x="283464" y="1311402"/>
                  </a:cubicBezTo>
                  <a:lnTo>
                    <a:pt x="283464" y="153162"/>
                  </a:lnTo>
                  <a:lnTo>
                    <a:pt x="289814" y="153162"/>
                  </a:lnTo>
                  <a:lnTo>
                    <a:pt x="283464" y="153162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162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905869" y="7165033"/>
            <a:ext cx="3974455" cy="46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dirty="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Eliminates Duplication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905869" y="7743081"/>
            <a:ext cx="7531894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 more paper systems.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A3E776-CDB4-06C3-C999-15DE80FE30CC}"/>
              </a:ext>
            </a:extLst>
          </p:cNvPr>
          <p:cNvSpPr/>
          <p:nvPr/>
        </p:nvSpPr>
        <p:spPr>
          <a:xfrm>
            <a:off x="17068800" y="9410700"/>
            <a:ext cx="838200" cy="762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992238" y="2290911"/>
            <a:ext cx="7442746" cy="9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System Architecture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2238" y="3949005"/>
            <a:ext cx="3556993" cy="47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600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Frontend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640461"/>
            <a:ext cx="3556993" cy="43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AWS Amplify, React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0508" y="3949005"/>
            <a:ext cx="3556993" cy="47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600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Authentication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50508" y="4640461"/>
            <a:ext cx="3556993" cy="43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AWS Cognito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08777" y="3949005"/>
            <a:ext cx="3556993" cy="47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600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Storage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08777" y="4640461"/>
            <a:ext cx="3556993" cy="8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AWS S3 (Encrypted folders)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67047" y="3949005"/>
            <a:ext cx="3556992" cy="47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600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Backend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67047" y="4640461"/>
            <a:ext cx="3556992" cy="8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AWS Lambda (Node.js API)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6462415"/>
            <a:ext cx="3721299" cy="47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600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Hospital Portal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7153870"/>
            <a:ext cx="7805886" cy="43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EC2 hosted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91248" y="6462414"/>
            <a:ext cx="3721299" cy="47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600" dirty="0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CDN &amp; Routing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04558" y="7153870"/>
            <a:ext cx="7805886" cy="43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CloudFront + Route 53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0FDF877-4756-BFB7-CEB7-1FC1CEE4BFB5}"/>
              </a:ext>
            </a:extLst>
          </p:cNvPr>
          <p:cNvSpPr/>
          <p:nvPr/>
        </p:nvSpPr>
        <p:spPr>
          <a:xfrm>
            <a:off x="17068800" y="9410700"/>
            <a:ext cx="838200" cy="762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7850237" y="2212181"/>
            <a:ext cx="8017371" cy="9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Key Features &amp; Benefits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7850237" y="3615332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1" y="0"/>
                </a:lnTo>
                <a:lnTo>
                  <a:pt x="708721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TextBox 8"/>
          <p:cNvSpPr txBox="1"/>
          <p:nvPr/>
        </p:nvSpPr>
        <p:spPr>
          <a:xfrm>
            <a:off x="7850237" y="4578995"/>
            <a:ext cx="2912269" cy="958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Centralized Records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1116866" y="3615332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0" name="TextBox 10"/>
          <p:cNvSpPr txBox="1"/>
          <p:nvPr/>
        </p:nvSpPr>
        <p:spPr>
          <a:xfrm>
            <a:off x="11116866" y="4578995"/>
            <a:ext cx="2912269" cy="958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Faster Emergency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4383494" y="3615332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TextBox 12"/>
          <p:cNvSpPr txBox="1"/>
          <p:nvPr/>
        </p:nvSpPr>
        <p:spPr>
          <a:xfrm>
            <a:off x="14383494" y="4578995"/>
            <a:ext cx="2912269" cy="958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Prevents Duplication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7850237" y="6104781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1" y="0"/>
                </a:lnTo>
                <a:lnTo>
                  <a:pt x="708721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4" name="TextBox 14"/>
          <p:cNvSpPr txBox="1"/>
          <p:nvPr/>
        </p:nvSpPr>
        <p:spPr>
          <a:xfrm>
            <a:off x="7850237" y="7068442"/>
            <a:ext cx="2912269" cy="958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HIPAA Compliant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1313874" y="5940921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TextBox 16"/>
          <p:cNvSpPr txBox="1"/>
          <p:nvPr/>
        </p:nvSpPr>
        <p:spPr>
          <a:xfrm>
            <a:off x="11116865" y="7024241"/>
            <a:ext cx="2912269" cy="958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PIPEDA Compliance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03AE11C-C57B-768E-27DA-58335BB4D3C9}"/>
              </a:ext>
            </a:extLst>
          </p:cNvPr>
          <p:cNvSpPr/>
          <p:nvPr/>
        </p:nvSpPr>
        <p:spPr>
          <a:xfrm>
            <a:off x="17068800" y="9410700"/>
            <a:ext cx="838200" cy="762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885974" y="657969"/>
            <a:ext cx="7540675" cy="86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Development Milestones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29712" y="2032844"/>
            <a:ext cx="28575" cy="7557939"/>
            <a:chOff x="0" y="0"/>
            <a:chExt cx="38100" cy="100772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00" cy="10077196"/>
            </a:xfrm>
            <a:custGeom>
              <a:avLst/>
              <a:gdLst/>
              <a:ahLst/>
              <a:cxnLst/>
              <a:rect l="l" t="t" r="r" b="b"/>
              <a:pathLst>
                <a:path w="38100" h="1007719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58146"/>
                  </a:lnTo>
                  <a:cubicBezTo>
                    <a:pt x="38100" y="10068687"/>
                    <a:pt x="29591" y="10077196"/>
                    <a:pt x="19050" y="10077196"/>
                  </a:cubicBezTo>
                  <a:cubicBezTo>
                    <a:pt x="8509" y="10077196"/>
                    <a:pt x="0" y="10068687"/>
                    <a:pt x="0" y="10058146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28471" y="2303264"/>
            <a:ext cx="759321" cy="28575"/>
            <a:chOff x="0" y="0"/>
            <a:chExt cx="1012428" cy="38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2444" cy="38100"/>
            </a:xfrm>
            <a:custGeom>
              <a:avLst/>
              <a:gdLst/>
              <a:ahLst/>
              <a:cxnLst/>
              <a:rect l="l" t="t" r="r" b="b"/>
              <a:pathLst>
                <a:path w="101244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3394" y="0"/>
                  </a:lnTo>
                  <a:cubicBezTo>
                    <a:pt x="1003935" y="0"/>
                    <a:pt x="1012444" y="8509"/>
                    <a:pt x="1012444" y="19050"/>
                  </a:cubicBezTo>
                  <a:cubicBezTo>
                    <a:pt x="1012444" y="29591"/>
                    <a:pt x="1003935" y="38100"/>
                    <a:pt x="99339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54455" y="2028081"/>
            <a:ext cx="579090" cy="579090"/>
            <a:chOff x="0" y="0"/>
            <a:chExt cx="772120" cy="772120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0" y="141732"/>
                  </a:moveTo>
                  <a:cubicBezTo>
                    <a:pt x="0" y="63500"/>
                    <a:pt x="63500" y="0"/>
                    <a:pt x="141732" y="0"/>
                  </a:cubicBezTo>
                  <a:lnTo>
                    <a:pt x="617601" y="0"/>
                  </a:lnTo>
                  <a:cubicBezTo>
                    <a:pt x="695960" y="0"/>
                    <a:pt x="759460" y="63500"/>
                    <a:pt x="759460" y="141732"/>
                  </a:cubicBezTo>
                  <a:lnTo>
                    <a:pt x="759460" y="617601"/>
                  </a:lnTo>
                  <a:cubicBezTo>
                    <a:pt x="759460" y="695833"/>
                    <a:pt x="695960" y="759333"/>
                    <a:pt x="617728" y="759333"/>
                  </a:cubicBezTo>
                  <a:lnTo>
                    <a:pt x="141732" y="759333"/>
                  </a:lnTo>
                  <a:cubicBezTo>
                    <a:pt x="63500" y="759460"/>
                    <a:pt x="0" y="695960"/>
                    <a:pt x="0" y="617601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772160" cy="772160"/>
            </a:xfrm>
            <a:custGeom>
              <a:avLst/>
              <a:gdLst/>
              <a:ahLst/>
              <a:cxnLst/>
              <a:rect l="l" t="t" r="r" b="b"/>
              <a:pathLst>
                <a:path w="772160" h="77216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23951" y="0"/>
                  </a:lnTo>
                  <a:lnTo>
                    <a:pt x="623951" y="6350"/>
                  </a:lnTo>
                  <a:lnTo>
                    <a:pt x="623951" y="0"/>
                  </a:lnTo>
                  <a:cubicBezTo>
                    <a:pt x="705866" y="0"/>
                    <a:pt x="772160" y="66294"/>
                    <a:pt x="772160" y="148082"/>
                  </a:cubicBezTo>
                  <a:lnTo>
                    <a:pt x="765810" y="148082"/>
                  </a:lnTo>
                  <a:lnTo>
                    <a:pt x="772160" y="148082"/>
                  </a:lnTo>
                  <a:lnTo>
                    <a:pt x="772160" y="623951"/>
                  </a:lnTo>
                  <a:lnTo>
                    <a:pt x="765810" y="623951"/>
                  </a:lnTo>
                  <a:lnTo>
                    <a:pt x="772160" y="623951"/>
                  </a:lnTo>
                  <a:cubicBezTo>
                    <a:pt x="772160" y="705739"/>
                    <a:pt x="705866" y="772033"/>
                    <a:pt x="624078" y="772033"/>
                  </a:cubicBezTo>
                  <a:lnTo>
                    <a:pt x="624078" y="765683"/>
                  </a:lnTo>
                  <a:lnTo>
                    <a:pt x="624078" y="772033"/>
                  </a:lnTo>
                  <a:lnTo>
                    <a:pt x="148082" y="772033"/>
                  </a:lnTo>
                  <a:lnTo>
                    <a:pt x="148082" y="765683"/>
                  </a:lnTo>
                  <a:lnTo>
                    <a:pt x="148082" y="772033"/>
                  </a:lnTo>
                  <a:cubicBezTo>
                    <a:pt x="66294" y="772160"/>
                    <a:pt x="0" y="705866"/>
                    <a:pt x="0" y="623951"/>
                  </a:cubicBezTo>
                  <a:lnTo>
                    <a:pt x="0" y="148082"/>
                  </a:lnTo>
                  <a:lnTo>
                    <a:pt x="6350" y="148082"/>
                  </a:lnTo>
                  <a:lnTo>
                    <a:pt x="0" y="148082"/>
                  </a:lnTo>
                  <a:moveTo>
                    <a:pt x="12700" y="148082"/>
                  </a:moveTo>
                  <a:lnTo>
                    <a:pt x="12700" y="623951"/>
                  </a:lnTo>
                  <a:lnTo>
                    <a:pt x="6350" y="623951"/>
                  </a:lnTo>
                  <a:lnTo>
                    <a:pt x="12700" y="623951"/>
                  </a:lnTo>
                  <a:cubicBezTo>
                    <a:pt x="12700" y="698754"/>
                    <a:pt x="73279" y="759460"/>
                    <a:pt x="148082" y="759460"/>
                  </a:cubicBezTo>
                  <a:lnTo>
                    <a:pt x="623951" y="759460"/>
                  </a:lnTo>
                  <a:cubicBezTo>
                    <a:pt x="698754" y="759460"/>
                    <a:pt x="759333" y="698881"/>
                    <a:pt x="759333" y="624078"/>
                  </a:cubicBezTo>
                  <a:lnTo>
                    <a:pt x="759333" y="148082"/>
                  </a:lnTo>
                  <a:cubicBezTo>
                    <a:pt x="759460" y="73279"/>
                    <a:pt x="698754" y="12700"/>
                    <a:pt x="623951" y="12700"/>
                  </a:cubicBezTo>
                  <a:lnTo>
                    <a:pt x="148082" y="12700"/>
                  </a:lnTo>
                  <a:lnTo>
                    <a:pt x="148082" y="6350"/>
                  </a:lnTo>
                  <a:lnTo>
                    <a:pt x="148082" y="12700"/>
                  </a:lnTo>
                  <a:cubicBezTo>
                    <a:pt x="73279" y="12700"/>
                    <a:pt x="12700" y="73279"/>
                    <a:pt x="12700" y="148082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8944645" y="2068414"/>
            <a:ext cx="398561" cy="498276"/>
          </a:xfrm>
          <a:custGeom>
            <a:avLst/>
            <a:gdLst/>
            <a:ahLst/>
            <a:cxnLst/>
            <a:rect l="l" t="t" r="r" b="b"/>
            <a:pathLst>
              <a:path w="398561" h="498276">
                <a:moveTo>
                  <a:pt x="0" y="0"/>
                </a:moveTo>
                <a:lnTo>
                  <a:pt x="398561" y="0"/>
                </a:lnTo>
                <a:lnTo>
                  <a:pt x="398561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8" r="-488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4" name="TextBox 14"/>
          <p:cNvSpPr txBox="1"/>
          <p:nvPr/>
        </p:nvSpPr>
        <p:spPr>
          <a:xfrm>
            <a:off x="4555926" y="2081659"/>
            <a:ext cx="3322439" cy="44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50"/>
              </a:lnSpc>
            </a:pPr>
            <a:r>
              <a:rPr lang="en-US" sz="3200" dirty="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SAAS Infra.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5974" y="2601069"/>
            <a:ext cx="6992391" cy="38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 AWS Amplify.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00207" y="3821906"/>
            <a:ext cx="759321" cy="28575"/>
            <a:chOff x="0" y="0"/>
            <a:chExt cx="1012428" cy="38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12444" cy="38100"/>
            </a:xfrm>
            <a:custGeom>
              <a:avLst/>
              <a:gdLst/>
              <a:ahLst/>
              <a:cxnLst/>
              <a:rect l="l" t="t" r="r" b="b"/>
              <a:pathLst>
                <a:path w="101244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3394" y="0"/>
                  </a:lnTo>
                  <a:cubicBezTo>
                    <a:pt x="1003935" y="0"/>
                    <a:pt x="1012444" y="8509"/>
                    <a:pt x="1012444" y="19050"/>
                  </a:cubicBezTo>
                  <a:cubicBezTo>
                    <a:pt x="1012444" y="29591"/>
                    <a:pt x="1003935" y="38100"/>
                    <a:pt x="99339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54455" y="3546722"/>
            <a:ext cx="579090" cy="579090"/>
            <a:chOff x="0" y="0"/>
            <a:chExt cx="772120" cy="772120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0" y="141732"/>
                  </a:moveTo>
                  <a:cubicBezTo>
                    <a:pt x="0" y="63500"/>
                    <a:pt x="63500" y="0"/>
                    <a:pt x="141732" y="0"/>
                  </a:cubicBezTo>
                  <a:lnTo>
                    <a:pt x="617601" y="0"/>
                  </a:lnTo>
                  <a:cubicBezTo>
                    <a:pt x="695960" y="0"/>
                    <a:pt x="759460" y="63500"/>
                    <a:pt x="759460" y="141732"/>
                  </a:cubicBezTo>
                  <a:lnTo>
                    <a:pt x="759460" y="617601"/>
                  </a:lnTo>
                  <a:cubicBezTo>
                    <a:pt x="759460" y="695833"/>
                    <a:pt x="695960" y="759333"/>
                    <a:pt x="617728" y="759333"/>
                  </a:cubicBezTo>
                  <a:lnTo>
                    <a:pt x="141732" y="759333"/>
                  </a:lnTo>
                  <a:cubicBezTo>
                    <a:pt x="63500" y="759460"/>
                    <a:pt x="0" y="695960"/>
                    <a:pt x="0" y="617601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772160" cy="772160"/>
            </a:xfrm>
            <a:custGeom>
              <a:avLst/>
              <a:gdLst/>
              <a:ahLst/>
              <a:cxnLst/>
              <a:rect l="l" t="t" r="r" b="b"/>
              <a:pathLst>
                <a:path w="772160" h="77216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23951" y="0"/>
                  </a:lnTo>
                  <a:lnTo>
                    <a:pt x="623951" y="6350"/>
                  </a:lnTo>
                  <a:lnTo>
                    <a:pt x="623951" y="0"/>
                  </a:lnTo>
                  <a:cubicBezTo>
                    <a:pt x="705866" y="0"/>
                    <a:pt x="772160" y="66294"/>
                    <a:pt x="772160" y="148082"/>
                  </a:cubicBezTo>
                  <a:lnTo>
                    <a:pt x="765810" y="148082"/>
                  </a:lnTo>
                  <a:lnTo>
                    <a:pt x="772160" y="148082"/>
                  </a:lnTo>
                  <a:lnTo>
                    <a:pt x="772160" y="623951"/>
                  </a:lnTo>
                  <a:lnTo>
                    <a:pt x="765810" y="623951"/>
                  </a:lnTo>
                  <a:lnTo>
                    <a:pt x="772160" y="623951"/>
                  </a:lnTo>
                  <a:cubicBezTo>
                    <a:pt x="772160" y="705739"/>
                    <a:pt x="705866" y="772033"/>
                    <a:pt x="624078" y="772033"/>
                  </a:cubicBezTo>
                  <a:lnTo>
                    <a:pt x="624078" y="765683"/>
                  </a:lnTo>
                  <a:lnTo>
                    <a:pt x="624078" y="772033"/>
                  </a:lnTo>
                  <a:lnTo>
                    <a:pt x="148082" y="772033"/>
                  </a:lnTo>
                  <a:lnTo>
                    <a:pt x="148082" y="765683"/>
                  </a:lnTo>
                  <a:lnTo>
                    <a:pt x="148082" y="772033"/>
                  </a:lnTo>
                  <a:cubicBezTo>
                    <a:pt x="66294" y="772160"/>
                    <a:pt x="0" y="705866"/>
                    <a:pt x="0" y="623951"/>
                  </a:cubicBezTo>
                  <a:lnTo>
                    <a:pt x="0" y="148082"/>
                  </a:lnTo>
                  <a:lnTo>
                    <a:pt x="6350" y="148082"/>
                  </a:lnTo>
                  <a:lnTo>
                    <a:pt x="0" y="148082"/>
                  </a:lnTo>
                  <a:moveTo>
                    <a:pt x="12700" y="148082"/>
                  </a:moveTo>
                  <a:lnTo>
                    <a:pt x="12700" y="623951"/>
                  </a:lnTo>
                  <a:lnTo>
                    <a:pt x="6350" y="623951"/>
                  </a:lnTo>
                  <a:lnTo>
                    <a:pt x="12700" y="623951"/>
                  </a:lnTo>
                  <a:cubicBezTo>
                    <a:pt x="12700" y="698754"/>
                    <a:pt x="73279" y="759460"/>
                    <a:pt x="148082" y="759460"/>
                  </a:cubicBezTo>
                  <a:lnTo>
                    <a:pt x="623951" y="759460"/>
                  </a:lnTo>
                  <a:cubicBezTo>
                    <a:pt x="698754" y="759460"/>
                    <a:pt x="759333" y="698881"/>
                    <a:pt x="759333" y="624078"/>
                  </a:cubicBezTo>
                  <a:lnTo>
                    <a:pt x="759333" y="148082"/>
                  </a:lnTo>
                  <a:cubicBezTo>
                    <a:pt x="759460" y="73279"/>
                    <a:pt x="698754" y="12700"/>
                    <a:pt x="623951" y="12700"/>
                  </a:cubicBezTo>
                  <a:lnTo>
                    <a:pt x="148082" y="12700"/>
                  </a:lnTo>
                  <a:lnTo>
                    <a:pt x="148082" y="6350"/>
                  </a:lnTo>
                  <a:lnTo>
                    <a:pt x="148082" y="12700"/>
                  </a:lnTo>
                  <a:cubicBezTo>
                    <a:pt x="73279" y="12700"/>
                    <a:pt x="12700" y="73279"/>
                    <a:pt x="12700" y="148082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944645" y="3634680"/>
            <a:ext cx="398561" cy="45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3125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09635" y="3600301"/>
            <a:ext cx="3322439" cy="435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3200" dirty="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BHN Record Portal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09635" y="4119711"/>
            <a:ext cx="6992391" cy="38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doctors/patients to access records.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128471" y="5130999"/>
            <a:ext cx="759321" cy="28575"/>
            <a:chOff x="0" y="0"/>
            <a:chExt cx="1012428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12444" cy="38100"/>
            </a:xfrm>
            <a:custGeom>
              <a:avLst/>
              <a:gdLst/>
              <a:ahLst/>
              <a:cxnLst/>
              <a:rect l="l" t="t" r="r" b="b"/>
              <a:pathLst>
                <a:path w="101244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3394" y="0"/>
                  </a:lnTo>
                  <a:cubicBezTo>
                    <a:pt x="1003935" y="0"/>
                    <a:pt x="1012444" y="8509"/>
                    <a:pt x="1012444" y="19050"/>
                  </a:cubicBezTo>
                  <a:cubicBezTo>
                    <a:pt x="1012444" y="29591"/>
                    <a:pt x="1003935" y="38100"/>
                    <a:pt x="99339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854455" y="4855815"/>
            <a:ext cx="579090" cy="579090"/>
            <a:chOff x="0" y="0"/>
            <a:chExt cx="772120" cy="772120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0" y="141732"/>
                  </a:moveTo>
                  <a:cubicBezTo>
                    <a:pt x="0" y="63500"/>
                    <a:pt x="63500" y="0"/>
                    <a:pt x="141732" y="0"/>
                  </a:cubicBezTo>
                  <a:lnTo>
                    <a:pt x="617601" y="0"/>
                  </a:lnTo>
                  <a:cubicBezTo>
                    <a:pt x="695960" y="0"/>
                    <a:pt x="759460" y="63500"/>
                    <a:pt x="759460" y="141732"/>
                  </a:cubicBezTo>
                  <a:lnTo>
                    <a:pt x="759460" y="617601"/>
                  </a:lnTo>
                  <a:cubicBezTo>
                    <a:pt x="759460" y="695833"/>
                    <a:pt x="695960" y="759333"/>
                    <a:pt x="617728" y="759333"/>
                  </a:cubicBezTo>
                  <a:lnTo>
                    <a:pt x="141732" y="759333"/>
                  </a:lnTo>
                  <a:cubicBezTo>
                    <a:pt x="63500" y="759460"/>
                    <a:pt x="0" y="695960"/>
                    <a:pt x="0" y="617601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772160" cy="772160"/>
            </a:xfrm>
            <a:custGeom>
              <a:avLst/>
              <a:gdLst/>
              <a:ahLst/>
              <a:cxnLst/>
              <a:rect l="l" t="t" r="r" b="b"/>
              <a:pathLst>
                <a:path w="772160" h="77216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23951" y="0"/>
                  </a:lnTo>
                  <a:lnTo>
                    <a:pt x="623951" y="6350"/>
                  </a:lnTo>
                  <a:lnTo>
                    <a:pt x="623951" y="0"/>
                  </a:lnTo>
                  <a:cubicBezTo>
                    <a:pt x="705866" y="0"/>
                    <a:pt x="772160" y="66294"/>
                    <a:pt x="772160" y="148082"/>
                  </a:cubicBezTo>
                  <a:lnTo>
                    <a:pt x="765810" y="148082"/>
                  </a:lnTo>
                  <a:lnTo>
                    <a:pt x="772160" y="148082"/>
                  </a:lnTo>
                  <a:lnTo>
                    <a:pt x="772160" y="623951"/>
                  </a:lnTo>
                  <a:lnTo>
                    <a:pt x="765810" y="623951"/>
                  </a:lnTo>
                  <a:lnTo>
                    <a:pt x="772160" y="623951"/>
                  </a:lnTo>
                  <a:cubicBezTo>
                    <a:pt x="772160" y="705739"/>
                    <a:pt x="705866" y="772033"/>
                    <a:pt x="624078" y="772033"/>
                  </a:cubicBezTo>
                  <a:lnTo>
                    <a:pt x="624078" y="765683"/>
                  </a:lnTo>
                  <a:lnTo>
                    <a:pt x="624078" y="772033"/>
                  </a:lnTo>
                  <a:lnTo>
                    <a:pt x="148082" y="772033"/>
                  </a:lnTo>
                  <a:lnTo>
                    <a:pt x="148082" y="765683"/>
                  </a:lnTo>
                  <a:lnTo>
                    <a:pt x="148082" y="772033"/>
                  </a:lnTo>
                  <a:cubicBezTo>
                    <a:pt x="66294" y="772160"/>
                    <a:pt x="0" y="705866"/>
                    <a:pt x="0" y="623951"/>
                  </a:cubicBezTo>
                  <a:lnTo>
                    <a:pt x="0" y="148082"/>
                  </a:lnTo>
                  <a:lnTo>
                    <a:pt x="6350" y="148082"/>
                  </a:lnTo>
                  <a:lnTo>
                    <a:pt x="0" y="148082"/>
                  </a:lnTo>
                  <a:moveTo>
                    <a:pt x="12700" y="148082"/>
                  </a:moveTo>
                  <a:lnTo>
                    <a:pt x="12700" y="623951"/>
                  </a:lnTo>
                  <a:lnTo>
                    <a:pt x="6350" y="623951"/>
                  </a:lnTo>
                  <a:lnTo>
                    <a:pt x="12700" y="623951"/>
                  </a:lnTo>
                  <a:cubicBezTo>
                    <a:pt x="12700" y="698754"/>
                    <a:pt x="73279" y="759460"/>
                    <a:pt x="148082" y="759460"/>
                  </a:cubicBezTo>
                  <a:lnTo>
                    <a:pt x="623951" y="759460"/>
                  </a:lnTo>
                  <a:cubicBezTo>
                    <a:pt x="698754" y="759460"/>
                    <a:pt x="759333" y="698881"/>
                    <a:pt x="759333" y="624078"/>
                  </a:cubicBezTo>
                  <a:lnTo>
                    <a:pt x="759333" y="148082"/>
                  </a:lnTo>
                  <a:cubicBezTo>
                    <a:pt x="759460" y="73279"/>
                    <a:pt x="698754" y="12700"/>
                    <a:pt x="623951" y="12700"/>
                  </a:cubicBezTo>
                  <a:lnTo>
                    <a:pt x="148082" y="12700"/>
                  </a:lnTo>
                  <a:lnTo>
                    <a:pt x="148082" y="6350"/>
                  </a:lnTo>
                  <a:lnTo>
                    <a:pt x="148082" y="12700"/>
                  </a:lnTo>
                  <a:cubicBezTo>
                    <a:pt x="73279" y="12700"/>
                    <a:pt x="12700" y="73279"/>
                    <a:pt x="12700" y="148082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944645" y="4943772"/>
            <a:ext cx="398561" cy="45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3125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5926" y="4909394"/>
            <a:ext cx="3322439" cy="44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50"/>
              </a:lnSpc>
            </a:pPr>
            <a:r>
              <a:rPr lang="en-US" sz="32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Encrypted S3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5974" y="5428804"/>
            <a:ext cx="6992391" cy="38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Bucket setup complete.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400207" y="6440090"/>
            <a:ext cx="759321" cy="28575"/>
            <a:chOff x="0" y="0"/>
            <a:chExt cx="1012428" cy="381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12444" cy="38100"/>
            </a:xfrm>
            <a:custGeom>
              <a:avLst/>
              <a:gdLst/>
              <a:ahLst/>
              <a:cxnLst/>
              <a:rect l="l" t="t" r="r" b="b"/>
              <a:pathLst>
                <a:path w="101244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3394" y="0"/>
                  </a:lnTo>
                  <a:cubicBezTo>
                    <a:pt x="1003935" y="0"/>
                    <a:pt x="1012444" y="8509"/>
                    <a:pt x="1012444" y="19050"/>
                  </a:cubicBezTo>
                  <a:cubicBezTo>
                    <a:pt x="1012444" y="29591"/>
                    <a:pt x="1003935" y="38100"/>
                    <a:pt x="99339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854455" y="6164908"/>
            <a:ext cx="579090" cy="579090"/>
            <a:chOff x="0" y="0"/>
            <a:chExt cx="772120" cy="772120"/>
          </a:xfrm>
        </p:grpSpPr>
        <p:sp>
          <p:nvSpPr>
            <p:cNvPr id="35" name="Freeform 35"/>
            <p:cNvSpPr/>
            <p:nvPr/>
          </p:nvSpPr>
          <p:spPr>
            <a:xfrm>
              <a:off x="6350" y="6350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0" y="141732"/>
                  </a:moveTo>
                  <a:cubicBezTo>
                    <a:pt x="0" y="63500"/>
                    <a:pt x="63500" y="0"/>
                    <a:pt x="141732" y="0"/>
                  </a:cubicBezTo>
                  <a:lnTo>
                    <a:pt x="617601" y="0"/>
                  </a:lnTo>
                  <a:cubicBezTo>
                    <a:pt x="695960" y="0"/>
                    <a:pt x="759460" y="63500"/>
                    <a:pt x="759460" y="141732"/>
                  </a:cubicBezTo>
                  <a:lnTo>
                    <a:pt x="759460" y="617601"/>
                  </a:lnTo>
                  <a:cubicBezTo>
                    <a:pt x="759460" y="695833"/>
                    <a:pt x="695960" y="759333"/>
                    <a:pt x="617728" y="759333"/>
                  </a:cubicBezTo>
                  <a:lnTo>
                    <a:pt x="141732" y="759333"/>
                  </a:lnTo>
                  <a:cubicBezTo>
                    <a:pt x="63500" y="759460"/>
                    <a:pt x="0" y="695960"/>
                    <a:pt x="0" y="617601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0"/>
              <a:ext cx="772160" cy="772160"/>
            </a:xfrm>
            <a:custGeom>
              <a:avLst/>
              <a:gdLst/>
              <a:ahLst/>
              <a:cxnLst/>
              <a:rect l="l" t="t" r="r" b="b"/>
              <a:pathLst>
                <a:path w="772160" h="77216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23951" y="0"/>
                  </a:lnTo>
                  <a:lnTo>
                    <a:pt x="623951" y="6350"/>
                  </a:lnTo>
                  <a:lnTo>
                    <a:pt x="623951" y="0"/>
                  </a:lnTo>
                  <a:cubicBezTo>
                    <a:pt x="705866" y="0"/>
                    <a:pt x="772160" y="66294"/>
                    <a:pt x="772160" y="148082"/>
                  </a:cubicBezTo>
                  <a:lnTo>
                    <a:pt x="765810" y="148082"/>
                  </a:lnTo>
                  <a:lnTo>
                    <a:pt x="772160" y="148082"/>
                  </a:lnTo>
                  <a:lnTo>
                    <a:pt x="772160" y="623951"/>
                  </a:lnTo>
                  <a:lnTo>
                    <a:pt x="765810" y="623951"/>
                  </a:lnTo>
                  <a:lnTo>
                    <a:pt x="772160" y="623951"/>
                  </a:lnTo>
                  <a:cubicBezTo>
                    <a:pt x="772160" y="705739"/>
                    <a:pt x="705866" y="772033"/>
                    <a:pt x="624078" y="772033"/>
                  </a:cubicBezTo>
                  <a:lnTo>
                    <a:pt x="624078" y="765683"/>
                  </a:lnTo>
                  <a:lnTo>
                    <a:pt x="624078" y="772033"/>
                  </a:lnTo>
                  <a:lnTo>
                    <a:pt x="148082" y="772033"/>
                  </a:lnTo>
                  <a:lnTo>
                    <a:pt x="148082" y="765683"/>
                  </a:lnTo>
                  <a:lnTo>
                    <a:pt x="148082" y="772033"/>
                  </a:lnTo>
                  <a:cubicBezTo>
                    <a:pt x="66294" y="772160"/>
                    <a:pt x="0" y="705866"/>
                    <a:pt x="0" y="623951"/>
                  </a:cubicBezTo>
                  <a:lnTo>
                    <a:pt x="0" y="148082"/>
                  </a:lnTo>
                  <a:lnTo>
                    <a:pt x="6350" y="148082"/>
                  </a:lnTo>
                  <a:lnTo>
                    <a:pt x="0" y="148082"/>
                  </a:lnTo>
                  <a:moveTo>
                    <a:pt x="12700" y="148082"/>
                  </a:moveTo>
                  <a:lnTo>
                    <a:pt x="12700" y="623951"/>
                  </a:lnTo>
                  <a:lnTo>
                    <a:pt x="6350" y="623951"/>
                  </a:lnTo>
                  <a:lnTo>
                    <a:pt x="12700" y="623951"/>
                  </a:lnTo>
                  <a:cubicBezTo>
                    <a:pt x="12700" y="698754"/>
                    <a:pt x="73279" y="759460"/>
                    <a:pt x="148082" y="759460"/>
                  </a:cubicBezTo>
                  <a:lnTo>
                    <a:pt x="623951" y="759460"/>
                  </a:lnTo>
                  <a:cubicBezTo>
                    <a:pt x="698754" y="759460"/>
                    <a:pt x="759333" y="698881"/>
                    <a:pt x="759333" y="624078"/>
                  </a:cubicBezTo>
                  <a:lnTo>
                    <a:pt x="759333" y="148082"/>
                  </a:lnTo>
                  <a:cubicBezTo>
                    <a:pt x="759460" y="73279"/>
                    <a:pt x="698754" y="12700"/>
                    <a:pt x="623951" y="12700"/>
                  </a:cubicBezTo>
                  <a:lnTo>
                    <a:pt x="148082" y="12700"/>
                  </a:lnTo>
                  <a:lnTo>
                    <a:pt x="148082" y="6350"/>
                  </a:lnTo>
                  <a:lnTo>
                    <a:pt x="148082" y="12700"/>
                  </a:lnTo>
                  <a:cubicBezTo>
                    <a:pt x="73279" y="12700"/>
                    <a:pt x="12700" y="73279"/>
                    <a:pt x="12700" y="148082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7" name="Freeform 37" descr="preencoded.png"/>
          <p:cNvSpPr/>
          <p:nvPr/>
        </p:nvSpPr>
        <p:spPr>
          <a:xfrm>
            <a:off x="8944645" y="6205240"/>
            <a:ext cx="398561" cy="498276"/>
          </a:xfrm>
          <a:custGeom>
            <a:avLst/>
            <a:gdLst/>
            <a:ahLst/>
            <a:cxnLst/>
            <a:rect l="l" t="t" r="r" b="b"/>
            <a:pathLst>
              <a:path w="398561" h="498276">
                <a:moveTo>
                  <a:pt x="0" y="0"/>
                </a:moveTo>
                <a:lnTo>
                  <a:pt x="398561" y="0"/>
                </a:lnTo>
                <a:lnTo>
                  <a:pt x="398561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8" r="-488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8" name="TextBox 38"/>
          <p:cNvSpPr txBox="1"/>
          <p:nvPr/>
        </p:nvSpPr>
        <p:spPr>
          <a:xfrm>
            <a:off x="10409635" y="6218485"/>
            <a:ext cx="3322439" cy="44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32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Cognito Auth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409635" y="6737896"/>
            <a:ext cx="6992391" cy="38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 progress.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8128471" y="7749182"/>
            <a:ext cx="759321" cy="28575"/>
            <a:chOff x="0" y="0"/>
            <a:chExt cx="1012428" cy="381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12444" cy="38100"/>
            </a:xfrm>
            <a:custGeom>
              <a:avLst/>
              <a:gdLst/>
              <a:ahLst/>
              <a:cxnLst/>
              <a:rect l="l" t="t" r="r" b="b"/>
              <a:pathLst>
                <a:path w="101244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3394" y="0"/>
                  </a:lnTo>
                  <a:cubicBezTo>
                    <a:pt x="1003935" y="0"/>
                    <a:pt x="1012444" y="8509"/>
                    <a:pt x="1012444" y="19050"/>
                  </a:cubicBezTo>
                  <a:cubicBezTo>
                    <a:pt x="1012444" y="29591"/>
                    <a:pt x="1003935" y="38100"/>
                    <a:pt x="99339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854455" y="7474000"/>
            <a:ext cx="579090" cy="579090"/>
            <a:chOff x="0" y="0"/>
            <a:chExt cx="772120" cy="772120"/>
          </a:xfrm>
        </p:grpSpPr>
        <p:sp>
          <p:nvSpPr>
            <p:cNvPr id="43" name="Freeform 43"/>
            <p:cNvSpPr/>
            <p:nvPr/>
          </p:nvSpPr>
          <p:spPr>
            <a:xfrm>
              <a:off x="6350" y="6350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0" y="141732"/>
                  </a:moveTo>
                  <a:cubicBezTo>
                    <a:pt x="0" y="63500"/>
                    <a:pt x="63500" y="0"/>
                    <a:pt x="141732" y="0"/>
                  </a:cubicBezTo>
                  <a:lnTo>
                    <a:pt x="617601" y="0"/>
                  </a:lnTo>
                  <a:cubicBezTo>
                    <a:pt x="695960" y="0"/>
                    <a:pt x="759460" y="63500"/>
                    <a:pt x="759460" y="141732"/>
                  </a:cubicBezTo>
                  <a:lnTo>
                    <a:pt x="759460" y="617601"/>
                  </a:lnTo>
                  <a:cubicBezTo>
                    <a:pt x="759460" y="695833"/>
                    <a:pt x="695960" y="759333"/>
                    <a:pt x="617728" y="759333"/>
                  </a:cubicBezTo>
                  <a:lnTo>
                    <a:pt x="141732" y="759333"/>
                  </a:lnTo>
                  <a:cubicBezTo>
                    <a:pt x="63500" y="759460"/>
                    <a:pt x="0" y="695960"/>
                    <a:pt x="0" y="617601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0"/>
              <a:ext cx="772160" cy="772160"/>
            </a:xfrm>
            <a:custGeom>
              <a:avLst/>
              <a:gdLst/>
              <a:ahLst/>
              <a:cxnLst/>
              <a:rect l="l" t="t" r="r" b="b"/>
              <a:pathLst>
                <a:path w="772160" h="77216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23951" y="0"/>
                  </a:lnTo>
                  <a:lnTo>
                    <a:pt x="623951" y="6350"/>
                  </a:lnTo>
                  <a:lnTo>
                    <a:pt x="623951" y="0"/>
                  </a:lnTo>
                  <a:cubicBezTo>
                    <a:pt x="705866" y="0"/>
                    <a:pt x="772160" y="66294"/>
                    <a:pt x="772160" y="148082"/>
                  </a:cubicBezTo>
                  <a:lnTo>
                    <a:pt x="765810" y="148082"/>
                  </a:lnTo>
                  <a:lnTo>
                    <a:pt x="772160" y="148082"/>
                  </a:lnTo>
                  <a:lnTo>
                    <a:pt x="772160" y="623951"/>
                  </a:lnTo>
                  <a:lnTo>
                    <a:pt x="765810" y="623951"/>
                  </a:lnTo>
                  <a:lnTo>
                    <a:pt x="772160" y="623951"/>
                  </a:lnTo>
                  <a:cubicBezTo>
                    <a:pt x="772160" y="705739"/>
                    <a:pt x="705866" y="772033"/>
                    <a:pt x="624078" y="772033"/>
                  </a:cubicBezTo>
                  <a:lnTo>
                    <a:pt x="624078" y="765683"/>
                  </a:lnTo>
                  <a:lnTo>
                    <a:pt x="624078" y="772033"/>
                  </a:lnTo>
                  <a:lnTo>
                    <a:pt x="148082" y="772033"/>
                  </a:lnTo>
                  <a:lnTo>
                    <a:pt x="148082" y="765683"/>
                  </a:lnTo>
                  <a:lnTo>
                    <a:pt x="148082" y="772033"/>
                  </a:lnTo>
                  <a:cubicBezTo>
                    <a:pt x="66294" y="772160"/>
                    <a:pt x="0" y="705866"/>
                    <a:pt x="0" y="623951"/>
                  </a:cubicBezTo>
                  <a:lnTo>
                    <a:pt x="0" y="148082"/>
                  </a:lnTo>
                  <a:lnTo>
                    <a:pt x="6350" y="148082"/>
                  </a:lnTo>
                  <a:lnTo>
                    <a:pt x="0" y="148082"/>
                  </a:lnTo>
                  <a:moveTo>
                    <a:pt x="12700" y="148082"/>
                  </a:moveTo>
                  <a:lnTo>
                    <a:pt x="12700" y="623951"/>
                  </a:lnTo>
                  <a:lnTo>
                    <a:pt x="6350" y="623951"/>
                  </a:lnTo>
                  <a:lnTo>
                    <a:pt x="12700" y="623951"/>
                  </a:lnTo>
                  <a:cubicBezTo>
                    <a:pt x="12700" y="698754"/>
                    <a:pt x="73279" y="759460"/>
                    <a:pt x="148082" y="759460"/>
                  </a:cubicBezTo>
                  <a:lnTo>
                    <a:pt x="623951" y="759460"/>
                  </a:lnTo>
                  <a:cubicBezTo>
                    <a:pt x="698754" y="759460"/>
                    <a:pt x="759333" y="698881"/>
                    <a:pt x="759333" y="624078"/>
                  </a:cubicBezTo>
                  <a:lnTo>
                    <a:pt x="759333" y="148082"/>
                  </a:lnTo>
                  <a:cubicBezTo>
                    <a:pt x="759460" y="73279"/>
                    <a:pt x="698754" y="12700"/>
                    <a:pt x="623951" y="12700"/>
                  </a:cubicBezTo>
                  <a:lnTo>
                    <a:pt x="148082" y="12700"/>
                  </a:lnTo>
                  <a:lnTo>
                    <a:pt x="148082" y="6350"/>
                  </a:lnTo>
                  <a:lnTo>
                    <a:pt x="148082" y="12700"/>
                  </a:lnTo>
                  <a:cubicBezTo>
                    <a:pt x="73279" y="12700"/>
                    <a:pt x="12700" y="73279"/>
                    <a:pt x="12700" y="148082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5" name="Freeform 45" descr="preencoded.png"/>
          <p:cNvSpPr/>
          <p:nvPr/>
        </p:nvSpPr>
        <p:spPr>
          <a:xfrm>
            <a:off x="8944645" y="7514332"/>
            <a:ext cx="398561" cy="498276"/>
          </a:xfrm>
          <a:custGeom>
            <a:avLst/>
            <a:gdLst/>
            <a:ahLst/>
            <a:cxnLst/>
            <a:rect l="l" t="t" r="r" b="b"/>
            <a:pathLst>
              <a:path w="398561" h="498276">
                <a:moveTo>
                  <a:pt x="0" y="0"/>
                </a:moveTo>
                <a:lnTo>
                  <a:pt x="398561" y="0"/>
                </a:lnTo>
                <a:lnTo>
                  <a:pt x="398561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88" r="-488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6" name="TextBox 46"/>
          <p:cNvSpPr txBox="1"/>
          <p:nvPr/>
        </p:nvSpPr>
        <p:spPr>
          <a:xfrm>
            <a:off x="4555926" y="7527577"/>
            <a:ext cx="3322439" cy="44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50"/>
              </a:lnSpc>
            </a:pPr>
            <a:r>
              <a:rPr lang="en-US" sz="32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Lambda API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85974" y="8046987"/>
            <a:ext cx="6992391" cy="38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Next phase.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F21B5D-6C17-DFB2-AB32-0BA0AD5CAEBF}"/>
              </a:ext>
            </a:extLst>
          </p:cNvPr>
          <p:cNvSpPr/>
          <p:nvPr/>
        </p:nvSpPr>
        <p:spPr>
          <a:xfrm>
            <a:off x="17068800" y="9410700"/>
            <a:ext cx="838200" cy="762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sz="2000" b="1"/>
          </a:p>
        </p:txBody>
      </p:sp>
      <p:sp>
        <p:nvSpPr>
          <p:cNvPr id="5" name="TextBox 5"/>
          <p:cNvSpPr txBox="1"/>
          <p:nvPr/>
        </p:nvSpPr>
        <p:spPr>
          <a:xfrm>
            <a:off x="992238" y="3072854"/>
            <a:ext cx="7442746" cy="92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6000" b="1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SWOT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2238" y="4730949"/>
            <a:ext cx="3556993" cy="46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b="1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Strengths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5422404"/>
            <a:ext cx="3556993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Innovative AWS use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975151"/>
            <a:ext cx="3556993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health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6527899"/>
            <a:ext cx="3556993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Strong security focus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50508" y="4730949"/>
            <a:ext cx="3556993" cy="46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b="1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Weaknesses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50508" y="5422404"/>
            <a:ext cx="3556993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Initial AWS complexity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50508" y="5975151"/>
            <a:ext cx="3556993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High learning curve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8777" y="4730949"/>
            <a:ext cx="3556993" cy="46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b="1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Opportunities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08777" y="5422404"/>
            <a:ext cx="3556993" cy="880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Expand to federal systems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08777" y="6428780"/>
            <a:ext cx="3556993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Integrate wearables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67047" y="4730949"/>
            <a:ext cx="3556992" cy="46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b="1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Threats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67047" y="5422404"/>
            <a:ext cx="3556992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Regulatory hurdles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67047" y="5975151"/>
            <a:ext cx="3556992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Cybersecurity risks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2B66D1-1849-E82C-AD0B-4C64638C4984}"/>
              </a:ext>
            </a:extLst>
          </p:cNvPr>
          <p:cNvSpPr/>
          <p:nvPr/>
        </p:nvSpPr>
        <p:spPr>
          <a:xfrm>
            <a:off x="17068800" y="9410700"/>
            <a:ext cx="838200" cy="762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7850237" y="2601366"/>
            <a:ext cx="7442746" cy="9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Challenges Faced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45475" y="3999756"/>
            <a:ext cx="4590604" cy="1684436"/>
            <a:chOff x="0" y="0"/>
            <a:chExt cx="6120805" cy="2245915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6108192" cy="2233168"/>
            </a:xfrm>
            <a:custGeom>
              <a:avLst/>
              <a:gdLst/>
              <a:ahLst/>
              <a:cxnLst/>
              <a:rect l="l" t="t" r="r" b="b"/>
              <a:pathLst>
                <a:path w="6108192" h="2233168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5948807" y="0"/>
                  </a:lnTo>
                  <a:cubicBezTo>
                    <a:pt x="6036818" y="0"/>
                    <a:pt x="6108192" y="71120"/>
                    <a:pt x="6108192" y="158750"/>
                  </a:cubicBezTo>
                  <a:lnTo>
                    <a:pt x="6108192" y="2074418"/>
                  </a:lnTo>
                  <a:cubicBezTo>
                    <a:pt x="6108192" y="2162048"/>
                    <a:pt x="6036818" y="2233168"/>
                    <a:pt x="5948807" y="2233168"/>
                  </a:cubicBezTo>
                  <a:lnTo>
                    <a:pt x="159385" y="2233168"/>
                  </a:lnTo>
                  <a:cubicBezTo>
                    <a:pt x="71374" y="2233168"/>
                    <a:pt x="0" y="2162048"/>
                    <a:pt x="0" y="2074418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6120892" cy="2245868"/>
            </a:xfrm>
            <a:custGeom>
              <a:avLst/>
              <a:gdLst/>
              <a:ahLst/>
              <a:cxnLst/>
              <a:rect l="l" t="t" r="r" b="b"/>
              <a:pathLst>
                <a:path w="6120892" h="2245868">
                  <a:moveTo>
                    <a:pt x="0" y="165100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5955157" y="0"/>
                  </a:lnTo>
                  <a:lnTo>
                    <a:pt x="5955157" y="6350"/>
                  </a:lnTo>
                  <a:lnTo>
                    <a:pt x="5955157" y="0"/>
                  </a:lnTo>
                  <a:cubicBezTo>
                    <a:pt x="6046597" y="0"/>
                    <a:pt x="6120892" y="73914"/>
                    <a:pt x="6120892" y="165100"/>
                  </a:cubicBezTo>
                  <a:lnTo>
                    <a:pt x="6114542" y="165100"/>
                  </a:lnTo>
                  <a:lnTo>
                    <a:pt x="6120892" y="165100"/>
                  </a:lnTo>
                  <a:lnTo>
                    <a:pt x="6120892" y="2080768"/>
                  </a:lnTo>
                  <a:lnTo>
                    <a:pt x="6114542" y="2080768"/>
                  </a:lnTo>
                  <a:lnTo>
                    <a:pt x="6120892" y="2080768"/>
                  </a:lnTo>
                  <a:cubicBezTo>
                    <a:pt x="6120892" y="2171954"/>
                    <a:pt x="6046724" y="2245868"/>
                    <a:pt x="5955157" y="2245868"/>
                  </a:cubicBezTo>
                  <a:lnTo>
                    <a:pt x="5955157" y="2239518"/>
                  </a:lnTo>
                  <a:lnTo>
                    <a:pt x="5955157" y="2245868"/>
                  </a:lnTo>
                  <a:lnTo>
                    <a:pt x="165735" y="2245868"/>
                  </a:lnTo>
                  <a:lnTo>
                    <a:pt x="165735" y="2239518"/>
                  </a:lnTo>
                  <a:lnTo>
                    <a:pt x="165735" y="2245868"/>
                  </a:lnTo>
                  <a:cubicBezTo>
                    <a:pt x="74295" y="2245868"/>
                    <a:pt x="0" y="2171954"/>
                    <a:pt x="0" y="208076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80768"/>
                  </a:lnTo>
                  <a:lnTo>
                    <a:pt x="6350" y="2080768"/>
                  </a:lnTo>
                  <a:lnTo>
                    <a:pt x="12700" y="2080768"/>
                  </a:lnTo>
                  <a:cubicBezTo>
                    <a:pt x="12700" y="2164969"/>
                    <a:pt x="81153" y="2233168"/>
                    <a:pt x="165735" y="2233168"/>
                  </a:cubicBezTo>
                  <a:lnTo>
                    <a:pt x="5955157" y="2233168"/>
                  </a:lnTo>
                  <a:cubicBezTo>
                    <a:pt x="6039739" y="2233168"/>
                    <a:pt x="6108192" y="2164842"/>
                    <a:pt x="6108192" y="2080768"/>
                  </a:cubicBezTo>
                  <a:lnTo>
                    <a:pt x="6108192" y="165100"/>
                  </a:lnTo>
                  <a:cubicBezTo>
                    <a:pt x="6108192" y="80899"/>
                    <a:pt x="6039739" y="12700"/>
                    <a:pt x="5955157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143280" y="4268986"/>
            <a:ext cx="3721299" cy="46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b="1" dirty="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Cognito Permissions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43280" y="4847034"/>
            <a:ext cx="3994994" cy="43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Mapping complexities.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710071" y="3999756"/>
            <a:ext cx="4590604" cy="1684436"/>
            <a:chOff x="0" y="0"/>
            <a:chExt cx="6120805" cy="2245915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6108192" cy="2233168"/>
            </a:xfrm>
            <a:custGeom>
              <a:avLst/>
              <a:gdLst/>
              <a:ahLst/>
              <a:cxnLst/>
              <a:rect l="l" t="t" r="r" b="b"/>
              <a:pathLst>
                <a:path w="6108192" h="2233168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5948807" y="0"/>
                  </a:lnTo>
                  <a:cubicBezTo>
                    <a:pt x="6036818" y="0"/>
                    <a:pt x="6108192" y="71120"/>
                    <a:pt x="6108192" y="158750"/>
                  </a:cubicBezTo>
                  <a:lnTo>
                    <a:pt x="6108192" y="2074418"/>
                  </a:lnTo>
                  <a:cubicBezTo>
                    <a:pt x="6108192" y="2162048"/>
                    <a:pt x="6036818" y="2233168"/>
                    <a:pt x="5948807" y="2233168"/>
                  </a:cubicBezTo>
                  <a:lnTo>
                    <a:pt x="159385" y="2233168"/>
                  </a:lnTo>
                  <a:cubicBezTo>
                    <a:pt x="71374" y="2233168"/>
                    <a:pt x="0" y="2162048"/>
                    <a:pt x="0" y="2074418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120892" cy="2245868"/>
            </a:xfrm>
            <a:custGeom>
              <a:avLst/>
              <a:gdLst/>
              <a:ahLst/>
              <a:cxnLst/>
              <a:rect l="l" t="t" r="r" b="b"/>
              <a:pathLst>
                <a:path w="6120892" h="2245868">
                  <a:moveTo>
                    <a:pt x="0" y="165100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5955157" y="0"/>
                  </a:lnTo>
                  <a:lnTo>
                    <a:pt x="5955157" y="6350"/>
                  </a:lnTo>
                  <a:lnTo>
                    <a:pt x="5955157" y="0"/>
                  </a:lnTo>
                  <a:cubicBezTo>
                    <a:pt x="6046597" y="0"/>
                    <a:pt x="6120892" y="73914"/>
                    <a:pt x="6120892" y="165100"/>
                  </a:cubicBezTo>
                  <a:lnTo>
                    <a:pt x="6114542" y="165100"/>
                  </a:lnTo>
                  <a:lnTo>
                    <a:pt x="6120892" y="165100"/>
                  </a:lnTo>
                  <a:lnTo>
                    <a:pt x="6120892" y="2080768"/>
                  </a:lnTo>
                  <a:lnTo>
                    <a:pt x="6114542" y="2080768"/>
                  </a:lnTo>
                  <a:lnTo>
                    <a:pt x="6120892" y="2080768"/>
                  </a:lnTo>
                  <a:cubicBezTo>
                    <a:pt x="6120892" y="2171954"/>
                    <a:pt x="6046724" y="2245868"/>
                    <a:pt x="5955157" y="2245868"/>
                  </a:cubicBezTo>
                  <a:lnTo>
                    <a:pt x="5955157" y="2239518"/>
                  </a:lnTo>
                  <a:lnTo>
                    <a:pt x="5955157" y="2245868"/>
                  </a:lnTo>
                  <a:lnTo>
                    <a:pt x="165735" y="2245868"/>
                  </a:lnTo>
                  <a:lnTo>
                    <a:pt x="165735" y="2239518"/>
                  </a:lnTo>
                  <a:lnTo>
                    <a:pt x="165735" y="2245868"/>
                  </a:lnTo>
                  <a:cubicBezTo>
                    <a:pt x="74295" y="2245868"/>
                    <a:pt x="0" y="2171954"/>
                    <a:pt x="0" y="208076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80768"/>
                  </a:lnTo>
                  <a:lnTo>
                    <a:pt x="6350" y="2080768"/>
                  </a:lnTo>
                  <a:lnTo>
                    <a:pt x="12700" y="2080768"/>
                  </a:lnTo>
                  <a:cubicBezTo>
                    <a:pt x="12700" y="2164969"/>
                    <a:pt x="81153" y="2233168"/>
                    <a:pt x="165735" y="2233168"/>
                  </a:cubicBezTo>
                  <a:lnTo>
                    <a:pt x="5955157" y="2233168"/>
                  </a:lnTo>
                  <a:cubicBezTo>
                    <a:pt x="6039739" y="2233168"/>
                    <a:pt x="6108192" y="2164842"/>
                    <a:pt x="6108192" y="2080768"/>
                  </a:cubicBezTo>
                  <a:lnTo>
                    <a:pt x="6108192" y="165100"/>
                  </a:lnTo>
                  <a:cubicBezTo>
                    <a:pt x="6108192" y="80899"/>
                    <a:pt x="6039739" y="12700"/>
                    <a:pt x="5955157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007876" y="4268986"/>
            <a:ext cx="3721299" cy="46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b="1" dirty="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Identity Verification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007876" y="4847034"/>
            <a:ext cx="3994994" cy="41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Duplicate BHN handling.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845475" y="5958185"/>
            <a:ext cx="9455051" cy="1684436"/>
            <a:chOff x="0" y="0"/>
            <a:chExt cx="12606735" cy="2245915"/>
          </a:xfrm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12594082" cy="2233168"/>
            </a:xfrm>
            <a:custGeom>
              <a:avLst/>
              <a:gdLst/>
              <a:ahLst/>
              <a:cxnLst/>
              <a:rect l="l" t="t" r="r" b="b"/>
              <a:pathLst>
                <a:path w="12594082" h="2233168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74418"/>
                  </a:lnTo>
                  <a:cubicBezTo>
                    <a:pt x="12594082" y="2162048"/>
                    <a:pt x="12522708" y="2233168"/>
                    <a:pt x="12434570" y="2233168"/>
                  </a:cubicBezTo>
                  <a:lnTo>
                    <a:pt x="159512" y="2233168"/>
                  </a:lnTo>
                  <a:cubicBezTo>
                    <a:pt x="71374" y="2233168"/>
                    <a:pt x="0" y="2162048"/>
                    <a:pt x="0" y="2074418"/>
                  </a:cubicBezTo>
                  <a:close/>
                </a:path>
              </a:pathLst>
            </a:custGeom>
            <a:solidFill>
              <a:srgbClr val="CCEEFF"/>
            </a:solidFill>
          </p:spPr>
          <p:txBody>
            <a:bodyPr/>
            <a:lstStyle/>
            <a:p>
              <a:endParaRPr lang="en-CA" sz="2000" b="1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12606782" cy="2245868"/>
            </a:xfrm>
            <a:custGeom>
              <a:avLst/>
              <a:gdLst/>
              <a:ahLst/>
              <a:cxnLst/>
              <a:rect l="l" t="t" r="r" b="b"/>
              <a:pathLst>
                <a:path w="12606782" h="2245868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80768"/>
                  </a:lnTo>
                  <a:lnTo>
                    <a:pt x="12600432" y="2080768"/>
                  </a:lnTo>
                  <a:lnTo>
                    <a:pt x="12606782" y="2080768"/>
                  </a:lnTo>
                  <a:cubicBezTo>
                    <a:pt x="12606782" y="2171954"/>
                    <a:pt x="12532487" y="2245868"/>
                    <a:pt x="12440920" y="2245868"/>
                  </a:cubicBezTo>
                  <a:lnTo>
                    <a:pt x="12440920" y="2239518"/>
                  </a:lnTo>
                  <a:lnTo>
                    <a:pt x="12440920" y="2245868"/>
                  </a:lnTo>
                  <a:lnTo>
                    <a:pt x="165862" y="2245868"/>
                  </a:lnTo>
                  <a:lnTo>
                    <a:pt x="165862" y="2239518"/>
                  </a:lnTo>
                  <a:lnTo>
                    <a:pt x="165862" y="2245868"/>
                  </a:lnTo>
                  <a:cubicBezTo>
                    <a:pt x="74295" y="2245868"/>
                    <a:pt x="0" y="2171954"/>
                    <a:pt x="0" y="208076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80768"/>
                  </a:lnTo>
                  <a:lnTo>
                    <a:pt x="6350" y="2080768"/>
                  </a:lnTo>
                  <a:lnTo>
                    <a:pt x="12700" y="2080768"/>
                  </a:lnTo>
                  <a:cubicBezTo>
                    <a:pt x="12700" y="2164969"/>
                    <a:pt x="81280" y="2233168"/>
                    <a:pt x="165862" y="2233168"/>
                  </a:cubicBezTo>
                  <a:lnTo>
                    <a:pt x="12440920" y="2233168"/>
                  </a:lnTo>
                  <a:cubicBezTo>
                    <a:pt x="12525501" y="2233168"/>
                    <a:pt x="12594082" y="2164842"/>
                    <a:pt x="12594082" y="2080768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</p:spPr>
          <p:txBody>
            <a:bodyPr/>
            <a:lstStyle/>
            <a:p>
              <a:endParaRPr lang="en-CA" sz="2000" b="1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143280" y="6227415"/>
            <a:ext cx="3721299" cy="46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3200" b="1" dirty="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Design Consistency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43280" y="6805464"/>
            <a:ext cx="8859441" cy="43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Web &amp; mobile.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225C5A-0163-4389-6200-F7963EACA94C}"/>
              </a:ext>
            </a:extLst>
          </p:cNvPr>
          <p:cNvSpPr/>
          <p:nvPr/>
        </p:nvSpPr>
        <p:spPr>
          <a:xfrm>
            <a:off x="17068800" y="9410700"/>
            <a:ext cx="838200" cy="762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A390A0-0D12-6E2D-6C3A-DE8AA6CCD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319794-B920-A719-CD81-E25189AD43D6}"/>
              </a:ext>
            </a:extLst>
          </p:cNvPr>
          <p:cNvSpPr txBox="1"/>
          <p:nvPr/>
        </p:nvSpPr>
        <p:spPr>
          <a:xfrm>
            <a:off x="6477000" y="4543335"/>
            <a:ext cx="495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06735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123</TotalTime>
  <Words>345</Words>
  <Application>Microsoft Office PowerPoint</Application>
  <PresentationFormat>Custom</PresentationFormat>
  <Paragraphs>165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Inter</vt:lpstr>
      <vt:lpstr>Arial</vt:lpstr>
      <vt:lpstr>Lato</vt:lpstr>
      <vt:lpstr>Calibri</vt:lpstr>
      <vt:lpstr>Petrona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1.pptx</dc:title>
  <dc:creator>Taber Shareef</dc:creator>
  <cp:lastModifiedBy>aniket mishra</cp:lastModifiedBy>
  <cp:revision>33</cp:revision>
  <dcterms:created xsi:type="dcterms:W3CDTF">2006-08-16T00:00:00Z</dcterms:created>
  <dcterms:modified xsi:type="dcterms:W3CDTF">2025-05-29T21:29:37Z</dcterms:modified>
  <dc:identifier>DAGorEwgYJk</dc:identifier>
</cp:coreProperties>
</file>